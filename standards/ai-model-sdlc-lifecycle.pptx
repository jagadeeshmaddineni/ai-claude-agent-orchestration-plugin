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F6681"/>
                </a:solidFill>
                <a:latin typeface="Inter"/>
              </a:defRPr>
            </a:pPr>
            <a:r>
              <a:t>AI Model SDLC</a:t>
            </a:r>
            <a:br/>
            <a:r>
              <a:t>Lifecycle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B3D55"/>
                </a:solidFill>
                <a:latin typeface="Inter"/>
              </a:defRPr>
            </a:pPr>
            <a:r>
              <a:t>Automated Request-to-Deployment Pipeline with Gemma 4 Consolidation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49039"/>
            <a:ext cx="27432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6A85"/>
                </a:solidFill>
                <a:latin typeface="Inter"/>
              </a:defRPr>
            </a:pPr>
            <a:r>
              <a:t>AI Governance  |  April 2026</a:t>
            </a:r>
            <a:br/>
            <a:r>
              <a:t>Building on Derek Feng's Lifecycle Framework (Feb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371600"/>
            <a:ext cx="2377440" cy="41148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5544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681"/>
                </a:solidFill>
                <a:latin typeface="Inter"/>
              </a:defRPr>
            </a:pPr>
            <a:r>
              <a:t>4 Data Centers</a:t>
            </a:r>
            <a:br/>
            <a:r>
              <a:t>10 GPU Chassis</a:t>
            </a:r>
            <a:br/>
            <a:r>
              <a:t>10 Distinct Models</a:t>
            </a:r>
            <a:br/>
            <a:r>
              <a:t>80 GPU Chips</a:t>
            </a:r>
            <a:br/>
            <a:r>
              <a:t>5 Strategic Slots</a:t>
            </a:r>
            <a:br/>
            <a:r>
              <a:t>~40 Chips</a:t>
            </a:r>
            <a:br/>
            <a:r>
              <a:t>  Freeable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Enhanced Model Lifecycle: Jira-Driven Agent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A85"/>
                </a:solidFill>
                <a:latin typeface="Inter"/>
              </a:defRPr>
            </a:pPr>
            <a:r>
              <a:t>Derek Feng's lifecycle + automated request intake, GPU provisioning checks, and agent-assisted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1572768" cy="1463040"/>
          </a:xfrm>
          <a:prstGeom prst="roundRect">
            <a:avLst/>
          </a:prstGeom>
          <a:solidFill>
            <a:srgbClr val="0D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Model</a:t>
            </a:r>
            <a:br/>
            <a: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9456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Jira ticket</a:t>
            </a:r>
            <a:br/>
            <a:r>
              <a:t>created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99232"/>
            <a:ext cx="1572768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017520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CRUD UI form</a:t>
            </a:r>
            <a:br/>
            <a:r>
              <a:t>+ HuggingFace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1463040"/>
            <a:ext cx="1572768" cy="146304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150876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169164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Agent</a:t>
            </a:r>
            <a:br/>
            <a: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219456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Auto-assess</a:t>
            </a:r>
            <a:br/>
            <a:r>
              <a:t>feasibility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8528" y="2999232"/>
            <a:ext cx="1572768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4248" y="3017520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GPU check</a:t>
            </a:r>
            <a:br/>
            <a:r>
              <a:t>+ license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2736" y="1463040"/>
            <a:ext cx="1572768" cy="1463040"/>
          </a:xfrm>
          <a:prstGeom prst="roundRect">
            <a:avLst/>
          </a:prstGeom>
          <a:solidFill>
            <a:srgbClr val="E30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150876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169164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Legal</a:t>
            </a:r>
            <a:br/>
            <a: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456" y="219456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Human-in-loop</a:t>
            </a:r>
            <a:br/>
            <a:r>
              <a:t>approval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2736" y="2999232"/>
            <a:ext cx="1572768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3017520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Apache/MIT/custom</a:t>
            </a:r>
            <a:br/>
            <a:r>
              <a:t>license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6944" y="1463040"/>
            <a:ext cx="1572768" cy="1463040"/>
          </a:xfrm>
          <a:prstGeom prst="round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6944" y="150876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169164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Benchmark</a:t>
            </a:r>
            <a:br/>
            <a:r>
              <a:t>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219456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External +</a:t>
            </a:r>
            <a:br/>
            <a:r>
              <a:t>internal evals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66944" y="2999232"/>
            <a:ext cx="1572768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12664" y="3017520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MMLU, LiveCode,</a:t>
            </a:r>
            <a:br/>
            <a:r>
              <a:t>vibe check, HW perf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31152" y="1463040"/>
            <a:ext cx="1572768" cy="1463040"/>
          </a:xfrm>
          <a:prstGeom prst="round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150876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Phase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169164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GPU</a:t>
            </a:r>
            <a:br/>
            <a:r>
              <a:t>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219456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Capacity +</a:t>
            </a:r>
            <a:br/>
            <a:r>
              <a:t>replacement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1152" y="2999232"/>
            <a:ext cx="1572768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6872" y="3017520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Which chips?</a:t>
            </a:r>
            <a:br/>
            <a:r>
              <a:t>What retires?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1463040"/>
            <a:ext cx="1572768" cy="1463040"/>
          </a:xfrm>
          <a:prstGeom prst="round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150876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Phase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169164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Deploy /</a:t>
            </a:r>
            <a:br/>
            <a:r>
              <a:t>Deprecate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219456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Tiered</a:t>
            </a:r>
            <a:br/>
            <a:r>
              <a:t>rollout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2999232"/>
            <a:ext cx="1572768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3017520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Hot/Warm/Cold</a:t>
            </a:r>
            <a:br/>
            <a:r>
              <a:t>+ sleep mode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59568" y="1463040"/>
            <a:ext cx="1572768" cy="146304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59568" y="1508760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Phase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59568" y="1691640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t>Monitor</a:t>
            </a:r>
            <a:br/>
            <a:r>
              <a:t>&amp; Retire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5288" y="219456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Ongoing</a:t>
            </a:r>
            <a:br/>
            <a:r>
              <a:t>governance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59568" y="2999232"/>
            <a:ext cx="1572768" cy="82296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5288" y="3017520"/>
            <a:ext cx="1481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Usage metrics</a:t>
            </a:r>
            <a:br/>
            <a:r>
              <a:t>+ deprecation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11480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D55"/>
                </a:solidFill>
                <a:latin typeface="Inter"/>
              </a:defRPr>
            </a:pPr>
            <a:r>
              <a:t>What's New vs Derek's Original Framework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754880"/>
            <a:ext cx="3383280" cy="13716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48006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D9DDB"/>
                </a:solidFill>
                <a:latin typeface="Inter"/>
              </a:defRPr>
            </a:pPr>
            <a:r>
              <a:t>Jira + Agent Intake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Request enters Jira (not email/Slack)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Agent auto-triages: license, GPU fit, benchmark data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CRUD UI for simple request/status tracking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89120" y="4754880"/>
            <a:ext cx="3383280" cy="13716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8006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A86B"/>
                </a:solidFill>
                <a:latin typeface="Inter"/>
              </a:defRPr>
            </a:pPr>
            <a:r>
              <a:t>GPU Auto-Check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Agent checks available GPU chips across 4 DCs (80 chips, 10 chassis)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Auto-calculates if model fits current capacity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Identifies what can be retired to make room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0" y="4754880"/>
            <a:ext cx="3383280" cy="13716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48006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30B5C"/>
                </a:solidFill>
                <a:latin typeface="Inter"/>
              </a:defRPr>
            </a:pPr>
            <a:r>
              <a:t>Legal as CRUD Workflow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Legal review is human-in-the-loop (not skippable)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But it's a simple CRUD approval workflow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Apache 2.0 = fast-track; custom = full 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Current GPU Inventory: 4 Data Centers, 80 Chips (10 Chassis)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320040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us-kc1 (24 chips)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43200" cy="2286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C#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63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Chips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463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190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19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719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7190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Llama3.1-8B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75104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9751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751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19751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19751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Llama3.1-70B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31136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23113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2311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2311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223113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all-mpnet-base-v2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487168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4871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24871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4871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487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Llama3.3-70B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743200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2743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2743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2743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27432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Qwen3-30B-A3B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99232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999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999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2999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29992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Qwen2.5-VL-32B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255264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2552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325526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325526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325526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A86B"/>
                </a:solidFill>
                <a:latin typeface="Inter"/>
              </a:defRPr>
            </a:pPr>
            <a:r>
              <a:t>Available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1097280"/>
            <a:ext cx="2743200" cy="320040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4612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us-sl (24 chips)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1463040"/>
            <a:ext cx="2743200" cy="2286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1463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GPU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0" y="1463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C#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1463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Chips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1463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46120" y="1719072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0" y="17190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40" y="1719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1719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43400" y="17190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Llama3.1-8B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46120" y="1975104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0" y="19751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49040" y="19751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23360" y="19751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43400" y="19751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Llama3.1-70B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2231136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223113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H100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40" y="22311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3360" y="22311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43400" y="223113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all-mpnet-base-v2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2487168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0" y="24871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49040" y="24871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23360" y="24871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43400" y="2487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Llama3.3-70B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46120" y="2743200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91840" y="2743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49040" y="2743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23360" y="2743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43400" y="27432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Qwen3-30B-A3B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46120" y="2999232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91840" y="2999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49040" y="2999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23360" y="2999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43400" y="29992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Qwen2.5-VL-32B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46120" y="3255264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91840" y="325526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49040" y="325526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23360" y="325526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3400" y="325526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A86B"/>
                </a:solidFill>
                <a:latin typeface="Inter"/>
              </a:defRPr>
            </a:pPr>
            <a:r>
              <a:t>Available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uk-london (16 chips)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0" y="1463040"/>
            <a:ext cx="2743200" cy="2286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72200" y="1463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GPU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29400" y="1463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C#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03720" y="1463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Chips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23760" y="1463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80" y="1719072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72200" y="17190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29400" y="1719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03720" y="1719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17190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Kimi K2 Thinking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26480" y="1975104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72200" y="19751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29400" y="19751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03720" y="19751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23760" y="19751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all-mpnet-base-v2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26480" y="2231136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72200" y="223113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29400" y="22311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03720" y="22311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23760" y="223113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qwen3-embed-8b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26480" y="2487168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72200" y="24871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29400" y="24871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03720" y="24871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23760" y="2487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A800"/>
                </a:solidFill>
                <a:latin typeface="Inter"/>
              </a:defRPr>
            </a:pPr>
            <a:r>
              <a:t>Parakeet Voice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126480" y="2743200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172200" y="2743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29400" y="2743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03720" y="2743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23760" y="27432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Qwen3-VL-235B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006840" y="1097280"/>
            <a:ext cx="2743200" cy="320040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00684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uk-whales (16 chips)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006840" y="1463040"/>
            <a:ext cx="2743200" cy="2286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052560" y="1463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GPU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509760" y="1463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C#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84080" y="1463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Chips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04120" y="1463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006840" y="1719072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052560" y="17190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09760" y="1719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784080" y="17190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104120" y="17190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Kimi K2 Thinking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006840" y="1975104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052560" y="19751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509760" y="19751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784080" y="19751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04120" y="19751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all-mpnet-base-v2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006840" y="2231136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052560" y="223113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509760" y="22311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84080" y="22311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104120" y="223113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qwen3-embed-8b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006840" y="2487168"/>
            <a:ext cx="2743200" cy="23774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052560" y="24871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509760" y="24871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784080" y="24871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104120" y="2487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A800"/>
                </a:solidFill>
                <a:latin typeface="Inter"/>
              </a:defRPr>
            </a:pPr>
            <a:r>
              <a:t>Parakeet Voice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006840" y="2743200"/>
            <a:ext cx="274320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052560" y="2743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509760" y="2743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C2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784080" y="27432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104120" y="27432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5167"/>
                </a:solidFill>
                <a:latin typeface="Inter"/>
              </a:defRPr>
            </a:pPr>
            <a:r>
              <a:t>Qwen3-VL-235B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31520" y="384048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D55"/>
                </a:solidFill>
                <a:latin typeface="Inter"/>
              </a:defRPr>
            </a:pPr>
            <a:r>
              <a:t>The 5 Strategic Slots (from Derek's Minimalist Portfolio)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65760" y="4480560"/>
            <a:ext cx="2103120" cy="274320"/>
          </a:xfrm>
          <a:prstGeom prst="rect">
            <a:avLst/>
          </a:prstGeom>
          <a:solidFill>
            <a:srgbClr val="E30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65760" y="44988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Reasoning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65760" y="4800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Complex logic, coding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5760" y="5029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A85"/>
                </a:solidFill>
                <a:latin typeface="Inter"/>
              </a:defRPr>
            </a:pPr>
            <a:r>
              <a:t>Kimi K2 (UK) -&gt; Gemma4?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651760" y="4480560"/>
            <a:ext cx="2103120" cy="27432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651760" y="44988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Vision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651760" y="4800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OCR, image analysis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651760" y="5029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A85"/>
                </a:solidFill>
                <a:latin typeface="Inter"/>
              </a:defRPr>
            </a:pPr>
            <a:r>
              <a:t>Qwen3-VL-235B (UK)</a:t>
            </a:r>
            <a:br/>
            <a:r>
              <a:t>Qwen2.5-VL-32B (US)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937760" y="4480560"/>
            <a:ext cx="2103120" cy="274320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937760" y="44988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Workhorse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937760" y="4800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RAG, chat, summarization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937760" y="5029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A85"/>
                </a:solidFill>
                <a:latin typeface="Inter"/>
              </a:defRPr>
            </a:pPr>
            <a:r>
              <a:t>Llama3.3-70B (US)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23760" y="4480560"/>
            <a:ext cx="2103120" cy="274320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223760" y="44988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Edge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23760" y="4800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High-volume extraction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223760" y="5029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A85"/>
                </a:solidFill>
                <a:latin typeface="Inter"/>
              </a:defRPr>
            </a:pPr>
            <a:r>
              <a:t>Llama3.1-8B (US)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509760" y="4480560"/>
            <a:ext cx="2103120" cy="27432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509760" y="44988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Embedding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509760" y="4800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Vector search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509760" y="5029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A85"/>
                </a:solidFill>
                <a:latin typeface="Inter"/>
              </a:defRPr>
            </a:pPr>
            <a:r>
              <a:t>all-mpnet / qwen3-embed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3152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Each chassis = 8 chips  |  US sites mirror each other  |  UK sites mirror each other  |  4 chips available per US site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Gemma 4 31B-it: One Model, Multiple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DDB"/>
                </a:solidFill>
                <a:latin typeface="Inter"/>
              </a:defRPr>
            </a:pPr>
            <a:r>
              <a:t>google/gemma-4-31B-it  |  30.7B params (dense)  |  256K context  |  Text + Vision + Video  |  Apache 2.0  |  Thinking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6681"/>
                </a:solidFill>
                <a:latin typeface="Inter"/>
              </a:defRPr>
            </a:pPr>
            <a:r>
              <a:t>Model Specs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30.7B parameters (dense, all active)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256K token context window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Multimodal: text + image + video (60s)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Native function calling + thinking mode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Apache 2.0 license (legal fast-track)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Hybrid attention (local + global)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~4 H200 chips (BF16) or ~2 chips (INT8)</a:t>
            </a:r>
          </a:p>
          <a:p>
            <a:pPr>
              <a:spcAft>
                <a:spcPts val="300"/>
              </a:spcAft>
              <a:defRPr sz="1100">
                <a:solidFill>
                  <a:srgbClr val="3D5167"/>
                </a:solidFill>
                <a:latin typeface="Inter"/>
              </a:defRPr>
            </a:pPr>
            <a:r>
              <a:t>140+ languages, 35 optimized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7132320" cy="25603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681"/>
                </a:solidFill>
                <a:latin typeface="Inter"/>
              </a:defRPr>
            </a:pPr>
            <a:r>
              <a:t>Benchmark Performance vs Current Fleet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83080"/>
            <a:ext cx="6766560" cy="256032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Gemma4 31B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Llama3.3 70B*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Qwen3 30B*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59" y="17830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Gemma3 27B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057400"/>
            <a:ext cx="6766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057400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MMLU 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5740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A86B"/>
                </a:solidFill>
                <a:latin typeface="Inter"/>
              </a:defRPr>
            </a:pPr>
            <a:r>
              <a:t>85.2%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05740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~70%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5740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~72%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205740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67.6%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313432"/>
            <a:ext cx="6766560" cy="24688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313432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AIME 2026 (math)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1343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A86B"/>
                </a:solidFill>
                <a:latin typeface="Inter"/>
              </a:defRPr>
            </a:pPr>
            <a:r>
              <a:t>89.2%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31343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~25%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1343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~30%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2313432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20.8%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569464"/>
            <a:ext cx="6766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569464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GPQA Diamond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56946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A86B"/>
                </a:solidFill>
                <a:latin typeface="Inter"/>
              </a:defRPr>
            </a:pPr>
            <a:r>
              <a:t>84.3%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56946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~45%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56946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~50%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59" y="2569464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42.4%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2825496"/>
            <a:ext cx="6766560" cy="24688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2825496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LiveCodeBench v6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82549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A86B"/>
                </a:solidFill>
                <a:latin typeface="Inter"/>
              </a:defRPr>
            </a:pPr>
            <a:r>
              <a:t>80.0%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82549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~35%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82549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~40%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59" y="282549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29.1%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3081528"/>
            <a:ext cx="676656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3081528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MMMU Pro (vision)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0815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A86B"/>
                </a:solidFill>
                <a:latin typeface="Inter"/>
              </a:defRPr>
            </a:pPr>
            <a:r>
              <a:t>76.9%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0815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N/A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0815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N/A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59" y="3081528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N/A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3337560"/>
            <a:ext cx="6766560" cy="24688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3337560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256K 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33756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A86B"/>
                </a:solidFill>
                <a:latin typeface="Inter"/>
              </a:defRPr>
            </a:pPr>
            <a:r>
              <a:t>Yes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333756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128K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33756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128K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59" y="3337560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128K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3657600"/>
            <a:ext cx="6766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A85"/>
                </a:solidFill>
                <a:latin typeface="Inter"/>
              </a:defRPr>
            </a:pPr>
            <a:r>
              <a:t>* Llama3.3/Qwen3 benchmarks estimated from public data - internal eval required to confirm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411480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D55"/>
                </a:solidFill>
                <a:latin typeface="Inter"/>
              </a:defRPr>
            </a:pPr>
            <a:r>
              <a:t>Consolidation Hypothesis: 4 Slots, 1 Model (US + UK)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709160"/>
            <a:ext cx="2743200" cy="146304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4709160"/>
            <a:ext cx="2743200" cy="27432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7274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Workhorse (US)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029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Replaces Llama3.3+3.1-70B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2578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D5167"/>
                </a:solidFill>
                <a:latin typeface="Inter"/>
              </a:defRPr>
            </a:pPr>
            <a:r>
              <a:t>31B vs 70B but benchmarks</a:t>
            </a:r>
            <a:br/>
            <a:r>
              <a:t>suggest parity or better</a:t>
            </a:r>
            <a:br/>
            <a:r>
              <a:t>= fewer chips per instance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94560" y="5349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6B"/>
                </a:solidFill>
                <a:latin typeface="Inter"/>
              </a:defRPr>
            </a:pPr>
            <a:r>
              <a:t>16 chips</a:t>
            </a:r>
            <a:br/>
            <a:r>
              <a:t>(4+4 x2)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91840" y="4709160"/>
            <a:ext cx="2743200" cy="146304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91840" y="4709160"/>
            <a:ext cx="2743200" cy="27432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91840" y="47274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Vision (US)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0" y="5029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Replaces Qwen2.5-VL-32B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52578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D5167"/>
                </a:solidFill>
                <a:latin typeface="Inter"/>
              </a:defRPr>
            </a:pPr>
            <a:r>
              <a:t>Gemma4 native vision</a:t>
            </a:r>
            <a:br/>
            <a:r>
              <a:t>(MMMU Pro: 76.9%)</a:t>
            </a:r>
            <a:br/>
            <a:r>
              <a:t>= no separate vision model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5349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52BA"/>
                </a:solidFill>
                <a:latin typeface="Inter"/>
              </a:defRPr>
            </a:pPr>
            <a:r>
              <a:t>12 chips</a:t>
            </a:r>
            <a:br/>
            <a:r>
              <a:t>(6 x2)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4709160"/>
            <a:ext cx="2743200" cy="146304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17920" y="4709160"/>
            <a:ext cx="2743200" cy="274320"/>
          </a:xfrm>
          <a:prstGeom prst="rect">
            <a:avLst/>
          </a:prstGeom>
          <a:solidFill>
            <a:srgbClr val="FF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47274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Reasoning (US)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5029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Replaces Qwen3-30B-A3B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52578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D5167"/>
                </a:solidFill>
                <a:latin typeface="Inter"/>
              </a:defRPr>
            </a:pPr>
            <a:r>
              <a:t>Gemma4 thinking mode</a:t>
            </a:r>
            <a:br/>
            <a:r>
              <a:t>vs Qwen3 MoE (3B active)</a:t>
            </a:r>
            <a:br/>
            <a:r>
              <a:t>= eval needed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5349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800"/>
                </a:solidFill>
                <a:latin typeface="Inter"/>
              </a:defRPr>
            </a:pPr>
            <a:r>
              <a:t>8 chips</a:t>
            </a:r>
            <a:br/>
            <a:r>
              <a:t>(4 x2)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44000" y="4709160"/>
            <a:ext cx="2743200" cy="146304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44000" y="4709160"/>
            <a:ext cx="2743200" cy="274320"/>
          </a:xfrm>
          <a:prstGeom prst="rect">
            <a:avLst/>
          </a:prstGeom>
          <a:solidFill>
            <a:srgbClr val="E30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0" y="47274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Reasoning (UK)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35440" y="5029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B3D55"/>
                </a:solidFill>
                <a:latin typeface="Inter"/>
              </a:defRPr>
            </a:pPr>
            <a:r>
              <a:t>Replaces Kimi K2 Thinking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52578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D5167"/>
                </a:solidFill>
                <a:latin typeface="Inter"/>
              </a:defRPr>
            </a:pPr>
            <a:r>
              <a:t>K2 uses 8 chips/site (16 total)</a:t>
            </a:r>
            <a:br/>
            <a:r>
              <a:t>Gemma4 31B = ~4 chips total</a:t>
            </a:r>
            <a:br/>
            <a:r>
              <a:t>= massive savings, eval quality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53492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30B5C"/>
                </a:solidFill>
                <a:latin typeface="Inter"/>
              </a:defRPr>
            </a:pPr>
            <a:r>
              <a:t>12 chips</a:t>
            </a:r>
            <a:br/>
            <a:r>
              <a:t>(16-&gt;4)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Capacity Impact: What Gemma 4 Consolidation Could Free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36576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6681"/>
                </a:solidFill>
                <a:latin typeface="Inter"/>
              </a:defRPr>
            </a:pPr>
            <a:r>
              <a:t>Current Allocation (All 4 Sites = 80 chips)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4572000" cy="256032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Inter"/>
              </a:defRPr>
            </a:pPr>
            <a:r>
              <a:t>Chips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Inter"/>
              </a:defRPr>
            </a:pPr>
            <a:r>
              <a:t>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373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Inter"/>
              </a:defRPr>
            </a:pPr>
            <a: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45720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Llama3.1-8B-Instruct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116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116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Edge (US only)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286000"/>
            <a:ext cx="4572000" cy="256032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2860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Llama3.1-70B-Instruct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2860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2860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2860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Legacy workhorse (US)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2560320"/>
            <a:ext cx="45720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5603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Llama3.3-70B-Instruct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5603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5603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5603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Workhorse (US)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2834640"/>
            <a:ext cx="4572000" cy="256032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28346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Qwen3-30B-A3B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8346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8346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346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Reasoning MoE (US)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108960"/>
            <a:ext cx="45720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108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Qwen2.5-VL-32B-Instruct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1089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1089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3108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Vision (US)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383280"/>
            <a:ext cx="4572000" cy="256032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33832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Kimi K2 Thinking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33832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38328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3832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Reasoning (UK)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3657600"/>
            <a:ext cx="45720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36576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Qwen3-VL-235B (UK)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6576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365760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36576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Vision large (UK)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931920"/>
            <a:ext cx="4572000" cy="256032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39319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Embeddings + Voice + Avail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39319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39319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Mixed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3931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Infra (all sites)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1188720"/>
            <a:ext cx="5212080" cy="36576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86B"/>
                </a:solidFill>
                <a:latin typeface="Inter"/>
              </a:defRPr>
            </a:pPr>
            <a:r>
              <a:t>After Gemma 4 Consolidation (Projected)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1737360"/>
            <a:ext cx="4754880" cy="256032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17373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Inter"/>
              </a:defRPr>
            </a:pPr>
            <a:r>
              <a:t>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17373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Inter"/>
              </a:defRPr>
            </a:pPr>
            <a:r>
              <a:t>Chips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17373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Inter"/>
              </a:defRPr>
            </a:pPr>
            <a:r>
              <a:t>GPU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17373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Inter"/>
              </a:defRPr>
            </a:pPr>
            <a:r>
              <a:t>Impact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2011680"/>
            <a:ext cx="4754880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201168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A86B"/>
                </a:solidFill>
                <a:latin typeface="Inter"/>
              </a:defRPr>
            </a:pPr>
            <a:r>
              <a:t>Gemma4-31B (US x2)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201168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A86B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2011680"/>
            <a:ext cx="548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201168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Workhorse+Vision+Reas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331720"/>
            <a:ext cx="4754880" cy="301752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233172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A86B"/>
                </a:solidFill>
                <a:latin typeface="Inter"/>
              </a:defRPr>
            </a:pPr>
            <a:r>
              <a:t>Gemma4-31B (UK x2)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233172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A86B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2331720"/>
            <a:ext cx="548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233172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Reasoning (replaces Kimi)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2651760"/>
            <a:ext cx="4754880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265176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Qwen3-VL-235B (UK)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265176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0" y="2651760"/>
            <a:ext cx="548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H200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265176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Vision large (UK)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2971800"/>
            <a:ext cx="4754880" cy="301752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46520" y="297180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Llama3.1-8B + Embed + Voice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297180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0" y="2971800"/>
            <a:ext cx="548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Mixed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0" y="297180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Edge + Infra (retain)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3291840"/>
            <a:ext cx="4754880" cy="301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46520" y="3291840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D1"/>
                </a:solidFill>
                <a:latin typeface="Inter"/>
              </a:defRPr>
            </a:pPr>
            <a:r>
              <a:t>Freed capacity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3291840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D1"/>
                </a:solidFill>
                <a:latin typeface="Inter"/>
              </a:defRPr>
            </a:pPr>
            <a:r>
              <a:t>~40 chips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0" y="3291840"/>
            <a:ext cx="548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Mixed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329184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New models / scale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520" y="502920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0" y="5212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B30"/>
                </a:solidFill>
                <a:latin typeface="Inter"/>
              </a:defRPr>
            </a:pPr>
            <a:r>
              <a:t>Retired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11680" y="5212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US: Llama3.1-70B(8)+3.3-70B(8)+VL-32B(12)+Qwen3-30B(8)=36  |  UK: Kimi K2(16) = 52 chips total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" y="5577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86B"/>
                </a:solidFill>
                <a:latin typeface="Inter"/>
              </a:defRPr>
            </a:pPr>
            <a:r>
              <a:t>Added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11680" y="5577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Gemma4-31B: US 2x4=8 chips + UK 2x2=4 chips = 12 chips total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5943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ED1"/>
                </a:solidFill>
                <a:latin typeface="Inter"/>
              </a:defRPr>
            </a:pPr>
            <a:r>
              <a:t>Net freed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1168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5167"/>
                </a:solidFill>
                <a:latin typeface="Inter"/>
              </a:defRPr>
            </a:pPr>
            <a:r>
              <a:t>~40 chips across all sites (52 retired - 12 added) = 50% of fleet capacity for new models or savings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All projections require internal benchmark validation. Chip counts are estimates based on BF16 deployment.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Model Request Workflow: Jira + Agent + Human-in-the-Loop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47548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6681"/>
                </a:solidFill>
                <a:latin typeface="Inter"/>
              </a:defRPr>
            </a:pPr>
            <a:r>
              <a:t>CRUD Request UI (Simple Web Form)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457200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556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1. Model Name / Size (e.g., google/gemma-4-31B-it)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84832"/>
            <a:ext cx="4572000" cy="32004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2. HuggingFace Link (auto-fetches model card)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32304"/>
            <a:ext cx="457200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505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3. Requested By / Team / Business Unit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79776"/>
            <a:ext cx="4572000" cy="32004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980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4. What model is it replacing? (dropdown of current fleet)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27248"/>
            <a:ext cx="457200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1455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5. Business Case (free text)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74720"/>
            <a:ext cx="4572000" cy="32004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93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6. Priority: Standard / Expedited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22192"/>
            <a:ext cx="457200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7. Target Environment: US-PROD / UK-PROD / Both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169664"/>
            <a:ext cx="4572000" cy="32004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879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8. GPU Preference: H100 / H200 / 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DDB"/>
                </a:solidFill>
                <a:latin typeface="Inter"/>
              </a:defRPr>
            </a:pPr>
            <a:r>
              <a:t>Submit creates Jira ticket in AITOOLS project (jira.ssnc-corp.cloud/projects/AITOOLS).</a:t>
            </a:r>
            <a:br/>
            <a:r>
              <a:t>Agent picks up ticket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5212080" cy="475488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6681"/>
                </a:solidFill>
                <a:latin typeface="Inter"/>
              </a:defRPr>
            </a:pPr>
            <a:r>
              <a:t>Agent Auto-Triage (What Happens Next)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73736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86B"/>
                </a:solidFill>
                <a:latin typeface="Inter"/>
              </a:defRPr>
            </a:pPr>
            <a:r>
              <a:t>1. License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Agent reads HuggingFace model card.</a:t>
            </a:r>
            <a:br/>
            <a:r>
              <a:t>Apache 2.0 / MIT = auto-approve.</a:t>
            </a:r>
            <a:br/>
            <a:r>
              <a:t>Custom license = flag for Legal review.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34640"/>
            <a:ext cx="54864" cy="914400"/>
          </a:xfrm>
          <a:prstGeom prst="rect">
            <a:avLst/>
          </a:prstGeom>
          <a:solidFill>
            <a:srgbClr val="0D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DDB"/>
                </a:solidFill>
                <a:latin typeface="Inter"/>
              </a:defRPr>
            </a:pPr>
            <a:r>
              <a:t>2. GPU Fit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108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Agent queries current GPU inventory.</a:t>
            </a:r>
            <a:br/>
            <a:r>
              <a:t>Calculates VRAM needed (BF16 vs INT8).</a:t>
            </a:r>
            <a:br/>
            <a:r>
              <a:t>Identifies available chips across all DCs.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931920"/>
            <a:ext cx="54864" cy="91440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52BA"/>
                </a:solidFill>
                <a:latin typeface="Inter"/>
              </a:defRPr>
            </a:pPr>
            <a:r>
              <a:t>3. Replacement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If replacing existing model:</a:t>
            </a:r>
            <a:br/>
            <a:r>
              <a:t>- Compare benchmarks (&gt;5% improvement?)</a:t>
            </a:r>
            <a:br/>
            <a:r>
              <a:t>- Calculate chip delta (net free / net cost)</a:t>
            </a:r>
            <a:br/>
            <a:r>
              <a:t>- Flag if replacement frees capacity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029200"/>
            <a:ext cx="54864" cy="914400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6681"/>
                </a:solidFill>
                <a:latin typeface="Inter"/>
              </a:defRPr>
            </a:pPr>
            <a:r>
              <a:t>4. Auto-Recommendation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303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Agent posts assessment to Jira ticket:</a:t>
            </a:r>
            <a:br/>
            <a:r>
              <a:t>- PROCEED (meets all checks)</a:t>
            </a:r>
            <a:br/>
            <a:r>
              <a:t>- REVIEW (Legal or capacity concern)</a:t>
            </a:r>
            <a:br/>
            <a:r>
              <a:t>- REJECT (insufficient justification)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Deployment Tiers &amp; vLLM Sleep Mode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22860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Hot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D55"/>
                </a:solidFill>
                <a:latin typeface="Inter"/>
              </a:defRPr>
            </a:pPr>
            <a:r>
              <a:t>Primary GPUs (FP16/BF16)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86B"/>
                </a:solidFill>
                <a:latin typeface="Inter"/>
              </a:defRPr>
            </a:pPr>
            <a:r>
              <a:t>Speed: ~50 tok/s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Active production models with real-time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Example: Current fleet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097280"/>
            <a:ext cx="3474720" cy="22860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097280"/>
            <a:ext cx="3474720" cy="365760"/>
          </a:xfrm>
          <a:prstGeom prst="rect">
            <a:avLst/>
          </a:prstGeom>
          <a:solidFill>
            <a:srgbClr val="FF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143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Warm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D55"/>
                </a:solidFill>
                <a:latin typeface="Inter"/>
              </a:defRPr>
            </a:pPr>
            <a:r>
              <a:t>Older HW / INT4 quantized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1828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800"/>
                </a:solidFill>
                <a:latin typeface="Inter"/>
              </a:defRPr>
            </a:pPr>
            <a:r>
              <a:t>Speed: ~15 tok/s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Legacy models still needed by some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Example: Models being deprecated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1097280"/>
            <a:ext cx="3474720" cy="22860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097280"/>
            <a:ext cx="3474720" cy="365760"/>
          </a:xfrm>
          <a:prstGeom prst="rect">
            <a:avLst/>
          </a:prstGeom>
          <a:solidFill>
            <a:srgbClr val="5B6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8" y="1143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Cold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8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3D55"/>
                </a:solidFill>
                <a:latin typeface="Inter"/>
              </a:defRPr>
            </a:pPr>
            <a:r>
              <a:t>CPU Offloading / vLLM Sleep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8" y="1828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B6A85"/>
                </a:solidFill>
                <a:latin typeface="Inter"/>
              </a:defRPr>
            </a:pPr>
            <a:r>
              <a:t>Speed: 30-60s load*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5167"/>
                </a:solidFill>
                <a:latin typeface="Inter"/>
              </a:defRPr>
            </a:pPr>
            <a:r>
              <a:t>Archived models available on-demand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8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Example: Retired but accessible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D55"/>
                </a:solidFill>
                <a:latin typeface="Inter"/>
              </a:defRPr>
            </a:pPr>
            <a:r>
              <a:t>vLLM Sleep Mode: Game-Changer for Cold Tier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97680"/>
            <a:ext cx="5029200" cy="18288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89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F6681"/>
                </a:solidFill>
                <a:latin typeface="Inter"/>
              </a:defRPr>
            </a:pPr>
            <a:r>
              <a:t>Two Sleep Levels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Level 1: Offload weights to CPU RAM, discard KV cache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  - Wake time: 0.1-0.8s (small) / 3-6s (large models)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  - Best for frequent model switching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Level 2: Discard weights + KV, keep only buffers in CPU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  - Wake time: 0.8-2.6s (reload from disk)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  - Best for many models, limited RAM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97680"/>
            <a:ext cx="5212080" cy="182880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A86B"/>
                </a:solidFill>
                <a:latin typeface="Inter"/>
              </a:defRPr>
            </a:pPr>
            <a:r>
              <a:t>Impact on Lifecycle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Model switching: from 2+ minutes to &lt;10 seconds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Legacy support: delegate fraction of GPUs to cold tier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API-driven: curl -X POST localhost:8002/sleep?level=2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Wake on demand: curl -X POST localhost:8001/wake_up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Deprecation timeline: Day 60 legacy to Day 365+ retired</a:t>
            </a:r>
          </a:p>
          <a:p>
            <a:pPr>
              <a:spcAft>
                <a:spcPts val="300"/>
              </a:spcAft>
              <a:defRPr sz="1000">
                <a:solidFill>
                  <a:srgbClr val="3D5167"/>
                </a:solidFill>
                <a:latin typeface="Inter"/>
              </a:defRPr>
            </a:pPr>
            <a:r>
              <a:t>= much longer tail support without burning hot GPU chips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* vLLM sleep mode could reduce cold tier load penalty to single digits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Example: Gemma 4 31B Request Through the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743200" cy="30175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solidFill>
            <a:srgbClr val="0D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Step 1: Request Filed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Model: google/gemma-4-31B-it (30.7B params)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Link: huggingface.co/google/gemma-4-31B-it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Replacing: Llama-70Bs + VL-32B (US) + Kimi K2 (UK)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Business case: 4-slot consolidation, ~40 chips freed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097280"/>
            <a:ext cx="2743200" cy="30175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097280"/>
            <a:ext cx="2743200" cy="320040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Step 2: Agent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License: Apache 2.0 -&gt; AUTO-APPROVED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GPU fit: 4 chips (BF16) per instance -&gt; FITS in H200 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Benchmarks: MMLU Pro 85.2% vs Llama3.3 ~70% -&gt; +15%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54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Recommendation: PROCEED (all checks pass)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97280"/>
            <a:ext cx="2743200" cy="30175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2743200" cy="32004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Step 3: Legal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Apache 2.0 = fast-track (no custom license review needed)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Google DeepMind provenance = known 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No data residency concerns (weights only, no training 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54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Status: APPROVED (same day)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097280"/>
            <a:ext cx="2743200" cy="3017520"/>
          </a:xfrm>
          <a:prstGeom prst="round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1097280"/>
            <a:ext cx="2743200" cy="32004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Step 4: Benchmark 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External: MMLU Pro 85.2%, LiveCodeBench 80%, GPQA 84.3%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Internal: vibe check, refusal rate, verbosity, unit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Hardware: TTFT, TPS @ batch 1 &amp; 64 on H200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154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Delta vs current: &gt;5% on all benchmarks -&gt; APPROVED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38912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D55"/>
                </a:solidFill>
                <a:latin typeface="Inter"/>
              </a:defRPr>
            </a:pPr>
            <a:r>
              <a:t>Step 5: Execution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29200"/>
            <a:ext cx="1783080" cy="1097280"/>
          </a:xfrm>
          <a:prstGeom prst="round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0749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Week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3035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Deploy Gemma4 31B</a:t>
            </a:r>
            <a:br/>
            <a:r>
              <a:t>on 4 H200 chips</a:t>
            </a:r>
            <a:br/>
            <a:r>
              <a:t>(us-kc1 C2/C3)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7440" y="5029200"/>
            <a:ext cx="1783080" cy="1097280"/>
          </a:xfrm>
          <a:prstGeom prst="roundRect">
            <a:avLst/>
          </a:prstGeom>
          <a:solidFill>
            <a:srgbClr val="0D9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50749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Week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3035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Run side-by-side</a:t>
            </a:r>
            <a:br/>
            <a:r>
              <a:t>with Llama3.3-70B</a:t>
            </a:r>
            <a:br/>
            <a:r>
              <a:t>(both models hot)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5029200"/>
            <a:ext cx="1783080" cy="1097280"/>
          </a:xfrm>
          <a:prstGeom prst="round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50749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Week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53035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Migrate traffic</a:t>
            </a:r>
            <a:br/>
            <a:r>
              <a:t>from Llama3.3 + VL</a:t>
            </a:r>
            <a:br/>
            <a:r>
              <a:t>to Gemma4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029200"/>
            <a:ext cx="1783080" cy="1097280"/>
          </a:xfrm>
          <a:prstGeom prst="roundRect">
            <a:avLst/>
          </a:prstGeom>
          <a:solidFill>
            <a:srgbClr val="FF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0749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Week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3035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Move Llama3.3 to</a:t>
            </a:r>
            <a:br/>
            <a:r>
              <a:t>Warm tier (INT4)</a:t>
            </a:r>
            <a:br/>
            <a:r>
              <a:t>Free 4 H200 chips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5029200"/>
            <a:ext cx="1783080" cy="1097280"/>
          </a:xfrm>
          <a:prstGeom prst="roundRect">
            <a:avLst/>
          </a:prstGeom>
          <a:solidFill>
            <a:srgbClr val="5B6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50749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Week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53035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Retire Llama3.1-70B</a:t>
            </a:r>
            <a:br/>
            <a:r>
              <a:t>to Cold (vLLM sleep)</a:t>
            </a:r>
            <a:br/>
            <a:r>
              <a:t>Free 4 H100 chips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58400" y="5029200"/>
            <a:ext cx="1783080" cy="1097280"/>
          </a:xfrm>
          <a:prstGeom prst="round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50749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Week 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04120" y="5303520"/>
            <a:ext cx="1691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Inter"/>
              </a:defRPr>
            </a:pPr>
            <a:r>
              <a:t>Evaluate Qwen3-30B</a:t>
            </a:r>
            <a:br/>
            <a:r>
              <a:t>replacement</a:t>
            </a:r>
            <a:br/>
            <a:r>
              <a:t>(reasoning eval)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6681"/>
                </a:solidFill>
                <a:latin typeface="Inter"/>
              </a:defRPr>
            </a:pPr>
            <a:r>
              <a:t>Fleet-Wide Model Audit: Start the Process Across All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Every model in the fleet should go through the same evaluation pipeline. Gemma 4 is the first candidate, not the last.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274320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Current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63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Chips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463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Strategic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63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Consolidation 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Inter"/>
              </a:defRPr>
            </a:pPr>
            <a: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755648"/>
            <a:ext cx="105156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7393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Llama3.1-8B-Instruct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77393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4 (US)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7393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77393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Gemma4 E4B (4.5B active)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77393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77393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D5167"/>
                </a:solidFill>
                <a:latin typeface="Inter"/>
              </a:defRPr>
            </a:pPr>
            <a:r>
              <a:t>P2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103120"/>
            <a:ext cx="10515600" cy="32918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1214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3B30"/>
                </a:solidFill>
                <a:latin typeface="Inter"/>
              </a:defRPr>
            </a:pPr>
            <a:r>
              <a:t>Llama3.1-70B-Instruct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121408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8 (US)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12140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Legacy Workhorse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12140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Gemma4 31B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12140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Replace (retire to cold)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12140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3B30"/>
                </a:solidFill>
                <a:latin typeface="Inter"/>
              </a:defRPr>
            </a:pPr>
            <a:r>
              <a:t>P0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450592"/>
            <a:ext cx="105156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46888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Llama3.3-70B-Instruct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46888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8 (US)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46888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Workhorse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46888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Gemma4 31B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4688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Replace (side-by-side first)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46888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3B30"/>
                </a:solidFill>
                <a:latin typeface="Inter"/>
              </a:defRPr>
            </a:pPr>
            <a:r>
              <a:t>P0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798064"/>
            <a:ext cx="10515600" cy="32918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281635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Qwen3-30B-A3B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281635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8 (US)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28163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281635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Gemma4 31B (thinking mode)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81635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Evaluate head-to-head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81635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800"/>
                </a:solidFill>
                <a:latin typeface="Inter"/>
              </a:defRPr>
            </a:pPr>
            <a:r>
              <a:t>P1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145536"/>
            <a:ext cx="105156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316382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800"/>
                </a:solidFill>
                <a:latin typeface="Inter"/>
              </a:defRPr>
            </a:pPr>
            <a:r>
              <a:t>Qwen2.5-VL-32B-Instruct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316382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12 (US)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316382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Vision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3163824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Gemma4 31B (native vision)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16382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Replace (eval vision quality)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16382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3B30"/>
                </a:solidFill>
                <a:latin typeface="Inter"/>
              </a:defRPr>
            </a:pPr>
            <a:r>
              <a:t>P0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3493008"/>
            <a:ext cx="10515600" cy="32918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51129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Qwen3-VL-235B (UK)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351129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8 (UK)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351129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Vision (Large)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351129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Keep (235B &gt;&gt; 31B for quality)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351129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Retain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51129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D5167"/>
                </a:solidFill>
                <a:latin typeface="Inter"/>
              </a:defRPr>
            </a:pPr>
            <a:r>
              <a:t>N/A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840480"/>
            <a:ext cx="105156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385876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3B30"/>
                </a:solidFill>
                <a:latin typeface="Inter"/>
              </a:defRPr>
            </a:pPr>
            <a:r>
              <a:t>Kimi K2 Thinking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3858768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16 (UK)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38587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Reasoning (Large)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385876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Gemma4 31B (thinking mode)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0" y="38587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Replace (16-&gt;4 chips)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8587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3B30"/>
                </a:solidFill>
                <a:latin typeface="Inter"/>
              </a:defRPr>
            </a:pPr>
            <a:r>
              <a:t>P0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4187952"/>
            <a:ext cx="10515600" cy="32918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420624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all-mpnet-base-v2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17520" y="4206240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8 (all)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0" y="420624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Embedding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420624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Keep (standard, no alternative)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0" y="420624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Retain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420624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D5167"/>
                </a:solidFill>
                <a:latin typeface="Inter"/>
              </a:defRPr>
            </a:pPr>
            <a:r>
              <a:t>N/A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4535424"/>
            <a:ext cx="105156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55371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5167"/>
                </a:solidFill>
                <a:latin typeface="Inter"/>
              </a:defRPr>
            </a:pPr>
            <a:r>
              <a:t>qwen3-embeddings-8b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0" y="455371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2 (UK)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40480" y="455371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Embedding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455371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Keep (complements mpnet)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0" y="45537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Retain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20" y="455371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D5167"/>
                </a:solidFill>
                <a:latin typeface="Inter"/>
              </a:defRPr>
            </a:pPr>
            <a:r>
              <a:t>N/A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4882896"/>
            <a:ext cx="10515600" cy="329184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490118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A86B"/>
                </a:solidFill>
                <a:latin typeface="Inter"/>
              </a:defRPr>
            </a:pPr>
            <a:r>
              <a:t>Parakeet Voice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17520" y="490118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4 (UK)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0" y="4901184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Voice/STT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0" y="4901184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Keep (unique modality)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32320" y="490118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5167"/>
                </a:solidFill>
                <a:latin typeface="Inter"/>
              </a:defRPr>
            </a:pPr>
            <a:r>
              <a:t>Retain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0" y="490118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D5167"/>
                </a:solidFill>
                <a:latin typeface="Inter"/>
              </a:defRPr>
            </a:pPr>
            <a:r>
              <a:t>N/A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1520" y="5303520"/>
            <a:ext cx="105156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3D55"/>
                </a:solidFill>
                <a:latin typeface="Inter"/>
              </a:defRPr>
            </a:pPr>
            <a:r>
              <a:t>P0 models: US (Llama3.1-70B + Llama3.3-70B + Qwen2.5-VL-32B = 28 chips) + UK (Kimi K2 = 16 chips) = 44 chips replaceable.</a:t>
            </a:r>
            <a:br/>
            <a:r>
              <a:t>Gemma4 31B needs ~12 chips total (8 US + 4 UK). Net freed: ~40 chips = 50% of fleet. Start benchmarks immediately.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6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6681"/>
                </a:solidFill>
                <a:latin typeface="Inter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011680"/>
            <a:ext cx="18288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Inter"/>
              </a:defRPr>
            </a:pPr>
            <a:r>
              <a:t>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468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File Gemma 4 31B request in AITOOLS Jira. Begin internal benchmark eval on H200.</a:t>
            </a:r>
            <a:br/>
            <a:r>
              <a:t>Verify current GPU inventory matches this deck (needs confirmation).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DDB"/>
                </a:solidFill>
                <a:latin typeface="Inter"/>
              </a:defRPr>
            </a:pPr>
            <a:r>
              <a:t>This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4290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Build the CRUD request UI (simple web form -&gt; AITOOLS Jira ticket).</a:t>
            </a:r>
            <a:br/>
            <a:r>
              <a:t>Deploy agent auto-triage for license, GPU fit, and benchmark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6681"/>
                </a:solidFill>
                <a:latin typeface="Inter"/>
              </a:defRPr>
            </a:pPr>
            <a:r>
              <a:t>Next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3891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Side-by-side Gemma 4 vs Llama3.3-70B, Qwen2.5-VL-32B, and Kimi K2.</a:t>
            </a:r>
            <a:br/>
            <a:r>
              <a:t>Begin deprecation of Llama3.1-70B (move to warm, then cold via vLLM sleep).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86B"/>
                </a:solidFill>
                <a:latin typeface="Inter"/>
              </a:defRPr>
            </a:pPr>
            <a:r>
              <a:t>Ongoing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3492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D5167"/>
                </a:solidFill>
                <a:latin typeface="Inter"/>
              </a:defRPr>
            </a:pPr>
            <a:r>
              <a:t>Run every current model through the evaluation pipeline.</a:t>
            </a:r>
            <a:br/>
            <a:r>
              <a:t>Track capacity freed. Report monthly on GPU utilization and model performance.</a:t>
            </a:r>
            <a:br/>
            <a:r>
              <a:t>Legal workflow as CRUD - Apache 2.0 fast-track, custom = full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6217920"/>
            <a:ext cx="10058400" cy="18288"/>
          </a:xfrm>
          <a:prstGeom prst="rect">
            <a:avLst/>
          </a:prstGeom>
          <a:solidFill>
            <a:srgbClr val="C2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B3D55"/>
                </a:solidFill>
                <a:latin typeface="Inter"/>
              </a:defRPr>
            </a:pPr>
            <a:r>
              <a:t>Key insight: Gemma 4 31B at 31B params appears to match or beat our 70B models across reasoning, coding, and vision.</a:t>
            </a:r>
            <a:br/>
            <a:r>
              <a:t>If benchmarks confirm, this is a significant capacity win. Start the process now.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A85"/>
                </a:solidFill>
                <a:latin typeface="Inter"/>
              </a:defRPr>
            </a:pPr>
            <a:r>
              <a:t>SS&amp;C Technologies  |  AI Gateway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